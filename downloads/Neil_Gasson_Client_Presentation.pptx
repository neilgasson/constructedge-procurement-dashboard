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1f2dcbddb840b9" /><Relationship Type="http://schemas.openxmlformats.org/officeDocument/2006/relationships/extended-properties" Target="/docProps/app.xml" Id="R0c95f28f6dc247a8" /><Relationship Type="http://schemas.openxmlformats.org/officeDocument/2006/relationships/officeDocument" Target="/ppt/presentation.xml" Id="R889aefc286c449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202eec7f3407a"/>
  </p:sldMasterIdLst>
  <p:notesMasterIdLst>
    <p:notesMasterId xmlns:r="http://schemas.openxmlformats.org/officeDocument/2006/relationships" r:id="R02cae06506574ae5"/>
  </p:notesMasterIdLst>
  <p:sldIdLst>
    <p:sldId xmlns:r="http://schemas.openxmlformats.org/officeDocument/2006/relationships" id="256" r:id="R2041eb91f6bd4499"/>
    <p:sldId xmlns:r="http://schemas.openxmlformats.org/officeDocument/2006/relationships" id="257" r:id="R3ab40ccf2cbc470a"/>
    <p:sldId xmlns:r="http://schemas.openxmlformats.org/officeDocument/2006/relationships" id="258" r:id="R7b36a175d7d04909"/>
    <p:sldId xmlns:r="http://schemas.openxmlformats.org/officeDocument/2006/relationships" id="259" r:id="Re4306eac5cac419f"/>
    <p:sldId xmlns:r="http://schemas.openxmlformats.org/officeDocument/2006/relationships" id="260" r:id="R814a56b8c04e40fc"/>
    <p:sldId xmlns:r="http://schemas.openxmlformats.org/officeDocument/2006/relationships" id="261" r:id="R92df77379f574838"/>
    <p:sldId xmlns:r="http://schemas.openxmlformats.org/officeDocument/2006/relationships" id="262" r:id="R69583b46edb14f52"/>
    <p:sldId xmlns:r="http://schemas.openxmlformats.org/officeDocument/2006/relationships" id="263" r:id="R70f557716c43449b"/>
    <p:sldId xmlns:r="http://schemas.openxmlformats.org/officeDocument/2006/relationships" id="264" r:id="Rb6c80033cea44356"/>
    <p:sldId xmlns:r="http://schemas.openxmlformats.org/officeDocument/2006/relationships" id="265" r:id="Rbb05ef69b51448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12032ea62c4d8b" /><Relationship Type="http://schemas.openxmlformats.org/officeDocument/2006/relationships/slideMaster" Target="/ppt/slideMasters/slideMaster1.xml" Id="Ra17202eec7f3407a" /><Relationship Type="http://schemas.openxmlformats.org/officeDocument/2006/relationships/notesMaster" Target="/ppt/notesMasters/notesMaster1.xml" Id="R02cae06506574ae5" /><Relationship Type="http://schemas.openxmlformats.org/officeDocument/2006/relationships/presProps" Target="/ppt/presProps.xml" Id="R3c317770bf694f9a" /><Relationship Type="http://schemas.openxmlformats.org/officeDocument/2006/relationships/tableStyles" Target="/ppt/tableStyles.xml" Id="R70e454e425224d02" /><Relationship Type="http://schemas.openxmlformats.org/officeDocument/2006/relationships/slide" Target="/ppt/slides/slide1.xml" Id="R2041eb91f6bd4499" /><Relationship Type="http://schemas.openxmlformats.org/officeDocument/2006/relationships/slide" Target="/ppt/slides/slide2.xml" Id="R3ab40ccf2cbc470a" /><Relationship Type="http://schemas.openxmlformats.org/officeDocument/2006/relationships/slide" Target="/ppt/slides/slide3.xml" Id="R7b36a175d7d04909" /><Relationship Type="http://schemas.openxmlformats.org/officeDocument/2006/relationships/slide" Target="/ppt/slides/slide4.xml" Id="Re4306eac5cac419f" /><Relationship Type="http://schemas.openxmlformats.org/officeDocument/2006/relationships/slide" Target="/ppt/slides/slide5.xml" Id="R814a56b8c04e40fc" /><Relationship Type="http://schemas.openxmlformats.org/officeDocument/2006/relationships/slide" Target="/ppt/slides/slide6.xml" Id="R92df77379f574838" /><Relationship Type="http://schemas.openxmlformats.org/officeDocument/2006/relationships/slide" Target="/ppt/slides/slide7.xml" Id="R69583b46edb14f52" /><Relationship Type="http://schemas.openxmlformats.org/officeDocument/2006/relationships/slide" Target="/ppt/slides/slide8.xml" Id="R70f557716c43449b" /><Relationship Type="http://schemas.openxmlformats.org/officeDocument/2006/relationships/slide" Target="/ppt/slides/slide9.xml" Id="Rb6c80033cea44356" /><Relationship Type="http://schemas.openxmlformats.org/officeDocument/2006/relationships/slide" Target="/ppt/slides/slide10.xml" Id="Rbb05ef69b51448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e7b88bb13d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01022ff2604f5c" /><Relationship Type="http://schemas.openxmlformats.org/officeDocument/2006/relationships/notesMaster" Target="/ppt/notesMasters/notesMaster1.xml" Id="R0b5b9d6a032144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92dbf14d84cd2" /><Relationship Type="http://schemas.openxmlformats.org/officeDocument/2006/relationships/notesMaster" Target="/ppt/notesMasters/notesMaster1.xml" Id="R9f35d10589c049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5afaaf48024e2b" /><Relationship Type="http://schemas.openxmlformats.org/officeDocument/2006/relationships/notesMaster" Target="/ppt/notesMasters/notesMaster1.xml" Id="R1f878a60b18f4f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45a4d1766b41b9" /><Relationship Type="http://schemas.openxmlformats.org/officeDocument/2006/relationships/notesMaster" Target="/ppt/notesMasters/notesMaster1.xml" Id="R0a32beba56d7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3a2dee572047c4" /><Relationship Type="http://schemas.openxmlformats.org/officeDocument/2006/relationships/notesMaster" Target="/ppt/notesMasters/notesMaster1.xml" Id="Rae292e8567a240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d0fc3308304afd" /><Relationship Type="http://schemas.openxmlformats.org/officeDocument/2006/relationships/notesMaster" Target="/ppt/notesMasters/notesMaster1.xml" Id="Rec27c4f1bcda47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9890d67b4f423d" /><Relationship Type="http://schemas.openxmlformats.org/officeDocument/2006/relationships/notesMaster" Target="/ppt/notesMasters/notesMaster1.xml" Id="R5f680ecd5f284e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51e80e402746a7" /><Relationship Type="http://schemas.openxmlformats.org/officeDocument/2006/relationships/notesMaster" Target="/ppt/notesMasters/notesMaster1.xml" Id="Rb50051be589c4d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81fd72ff274fe9" /><Relationship Type="http://schemas.openxmlformats.org/officeDocument/2006/relationships/notesMaster" Target="/ppt/notesMasters/notesMaster1.xml" Id="R6227269495364a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02adb7f35947a2" /><Relationship Type="http://schemas.openxmlformats.org/officeDocument/2006/relationships/notesMaster" Target="/ppt/notesMasters/notesMaster1.xml" Id="R2ae2d1d9b310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192fed44cd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fccc2c163e4e0c" /><Relationship Type="http://schemas.openxmlformats.org/officeDocument/2006/relationships/slideLayout" Target="/ppt/slideLayouts/slideLayout1.xml" Id="R25c2c96d33c047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c2c96d33c047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82f2472db48f6" /><Relationship Type="http://schemas.openxmlformats.org/officeDocument/2006/relationships/notesSlide" Target="/ppt/notesSlides/notesSlide1.xml" Id="R1e5763eb35a841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e19e72ee147c5" /><Relationship Type="http://schemas.openxmlformats.org/officeDocument/2006/relationships/notesSlide" Target="/ppt/notesSlides/notesSlide2.xml" Id="Rc422d9d8297d44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08b4730054612" /><Relationship Type="http://schemas.openxmlformats.org/officeDocument/2006/relationships/notesSlide" Target="/ppt/notesSlides/notesSlide3.xml" Id="Rc1d22cd11f6d42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3c93eecb94275" /><Relationship Type="http://schemas.openxmlformats.org/officeDocument/2006/relationships/chart" Target="/ppt/slides/charts/chart1.xml" Id="Re3c4f8dea2ea4902" /><Relationship Type="http://schemas.openxmlformats.org/officeDocument/2006/relationships/notesSlide" Target="/ppt/notesSlides/notesSlide4.xml" Id="R06e43facab4d4f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5e344fda448a" /><Relationship Type="http://schemas.openxmlformats.org/officeDocument/2006/relationships/chart" Target="/ppt/slides/charts/chart2.xml" Id="Rf28a90ee943749e5" /><Relationship Type="http://schemas.openxmlformats.org/officeDocument/2006/relationships/notesSlide" Target="/ppt/notesSlides/notesSlide5.xml" Id="Re0a3f5ee527a48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9a05154224b8d" /><Relationship Type="http://schemas.openxmlformats.org/officeDocument/2006/relationships/chart" Target="/ppt/slides/charts/chart3.xml" Id="R1563249c565c43d8" /><Relationship Type="http://schemas.openxmlformats.org/officeDocument/2006/relationships/notesSlide" Target="/ppt/notesSlides/notesSlide6.xml" Id="R8b413ceed499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71832a03d45ce" /><Relationship Type="http://schemas.openxmlformats.org/officeDocument/2006/relationships/chart" Target="/ppt/slides/charts/chart4.xml" Id="R4de36323dcbb4e66" /><Relationship Type="http://schemas.openxmlformats.org/officeDocument/2006/relationships/notesSlide" Target="/ppt/notesSlides/notesSlide7.xml" Id="R20a577c7c5f740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9417f12c4c33" /><Relationship Type="http://schemas.openxmlformats.org/officeDocument/2006/relationships/notesSlide" Target="/ppt/notesSlides/notesSlide8.xml" Id="R4591e4f35cea49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2eddf71304225" /><Relationship Type="http://schemas.openxmlformats.org/officeDocument/2006/relationships/notesSlide" Target="/ppt/notesSlides/notesSlide9.xml" Id="Rc83dda1f72c44a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21b58bbf0446b" /><Relationship Type="http://schemas.openxmlformats.org/officeDocument/2006/relationships/notesSlide" Target="/ppt/notesSlides/notesSlide10.xml" Id="R772dec6e777e497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Net variance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spPr>
              <a:solidFill xmlns:a="http://schemas.openxmlformats.org/drawingml/2006/main">
                <a:srgbClr val="0F766E"/>
              </a:solidFill>
            </c:spPr>
          </c:dPt>
          <c:dPt>
            <c:idx val="1"/>
            <c:spPr>
              <a:solidFill xmlns:a="http://schemas.openxmlformats.org/drawingml/2006/main">
                <a:srgbClr val="0F766E"/>
              </a:solidFill>
            </c:spPr>
          </c:dPt>
          <c:dPt>
            <c:idx val="2"/>
            <c:spPr>
              <a:solidFill xmlns:a="http://schemas.openxmlformats.org/drawingml/2006/main">
                <a:srgbClr val="0F766E"/>
              </a:solidFill>
            </c:spPr>
          </c:dPt>
          <c:dPt>
            <c:idx val="3"/>
            <c:spPr>
              <a:solidFill xmlns:a="http://schemas.openxmlformats.org/drawingml/2006/main">
                <a:srgbClr val="0F766E"/>
              </a:solidFill>
            </c:spPr>
          </c:dPt>
          <c:dPt>
            <c:idx val="4"/>
            <c:spPr>
              <a:solidFill xmlns:a="http://schemas.openxmlformats.org/drawingml/2006/main">
                <a:srgbClr val="0F766E"/>
              </a:solidFill>
            </c:spPr>
          </c:dPt>
          <c:dPt>
            <c:idx val="5"/>
            <c:spPr>
              <a:solidFill xmlns:a="http://schemas.openxmlformats.org/drawingml/2006/main">
                <a:srgbClr val="0F766E"/>
              </a:solidFill>
            </c:spPr>
          </c:dPt>
          <c:dPt>
            <c:idx val="6"/>
            <c:spPr>
              <a:solidFill xmlns:a="http://schemas.openxmlformats.org/drawingml/2006/main">
                <a:srgbClr val="0F766E"/>
              </a:solidFill>
            </c:spPr>
          </c:dPt>
          <c:dPt>
            <c:idx val="7"/>
            <c:spPr>
              <a:solidFill xmlns:a="http://schemas.openxmlformats.org/drawingml/2006/main">
                <a:srgbClr val="C94E4E"/>
              </a:solidFill>
            </c:spPr>
          </c:dPt>
          <c:dPt>
            <c:idx val="8"/>
            <c:spPr>
              <a:solidFill xmlns:a="http://schemas.openxmlformats.org/drawingml/2006/main">
                <a:srgbClr val="C94E4E"/>
              </a:solidFill>
            </c:spPr>
          </c:dPt>
          <c:dPt>
            <c:idx val="9"/>
            <c:spPr>
              <a:solidFill xmlns:a="http://schemas.openxmlformats.org/drawingml/2006/main">
                <a:srgbClr val="C94E4E"/>
              </a:solidFill>
            </c:spPr>
          </c:dPt>
          <c:cat>
            <c:strLit>
              <c:ptCount val="10"/>
              <c:pt idx="0">
                <c:v>University District</c:v>
              </c:pt>
              <c:pt idx="1">
                <c:v>Bow River</c:v>
              </c:pt>
              <c:pt idx="2">
                <c:v>Foothills</c:v>
              </c:pt>
              <c:pt idx="3">
                <c:v>Stampede Park</c:v>
              </c:pt>
              <c:pt idx="4">
                <c:v>Rocky View</c:v>
              </c:pt>
              <c:pt idx="5">
                <c:v>Saddledome</c:v>
              </c:pt>
              <c:pt idx="6">
                <c:v>Springbank</c:v>
              </c:pt>
              <c:pt idx="7">
                <c:v>Deerfoot Trail North</c:v>
              </c:pt>
              <c:pt idx="8">
                <c:v>Calgary SE Ring Road</c:v>
              </c:pt>
              <c:pt idx="9">
                <c:v>Quarry Park</c:v>
              </c:pt>
            </c:strLit>
          </c:cat>
          <c:val>
            <c:numLit>
              <c:formatCode>$0.00"m"</c:formatCode>
              <c:ptCount val="10"/>
              <c:pt idx="0">
                <c:v>3.53070772</c:v>
              </c:pt>
              <c:pt idx="1">
                <c:v>3.4944317099999997</c:v>
              </c:pt>
              <c:pt idx="2">
                <c:v>2.3252764</c:v>
              </c:pt>
              <c:pt idx="3">
                <c:v>1.7623183999999998</c:v>
              </c:pt>
              <c:pt idx="4">
                <c:v>1.72659118</c:v>
              </c:pt>
              <c:pt idx="5">
                <c:v>0.52568404</c:v>
              </c:pt>
              <c:pt idx="6">
                <c:v>0.492576</c:v>
              </c:pt>
              <c:pt idx="7">
                <c:v>0.02914734</c:v>
              </c:pt>
              <c:pt idx="8">
                <c:v>0.13459348000000002</c:v>
              </c:pt>
              <c:pt idx="9">
                <c:v>0.27966778000000003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A"/>
              </a:solidFill>
              <a:prstDash val="solid"/>
            </a:ln>
          </c:spPr>
        </c:majorGridlines>
        <c:numFmt formatCode="$0.0&quot;m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Average variance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spPr>
              <a:solidFill xmlns:a="http://schemas.openxmlformats.org/drawingml/2006/main">
                <a:srgbClr val="C94E4E"/>
              </a:solidFill>
            </c:spPr>
          </c:dPt>
          <c:dPt>
            <c:idx val="1"/>
            <c:spPr>
              <a:solidFill xmlns:a="http://schemas.openxmlformats.org/drawingml/2006/main">
                <a:srgbClr val="C94E4E"/>
              </a:solidFill>
            </c:spPr>
          </c:dPt>
          <c:dPt>
            <c:idx val="2"/>
            <c:spPr>
              <a:solidFill xmlns:a="http://schemas.openxmlformats.org/drawingml/2006/main">
                <a:srgbClr val="B77A1D"/>
              </a:solidFill>
            </c:spPr>
          </c:dPt>
          <c:cat>
            <c:strLit>
              <c:ptCount val="3"/>
              <c:pt idx="0">
                <c:v>Houle Electric</c:v>
              </c:pt>
              <c:pt idx="1">
                <c:v>PCL Mechanical</c:v>
              </c:pt>
              <c:pt idx="2">
                <c:v>Levitt-Safety Calgary</c:v>
              </c:pt>
            </c:strLit>
          </c:cat>
          <c:val>
            <c:numLit>
              <c:formatCode>$0.0"k"</c:formatCode>
              <c:ptCount val="3"/>
              <c:pt idx="0">
                <c:v>74.58332</c:v>
              </c:pt>
              <c:pt idx="1">
                <c:v>73.89909</c:v>
              </c:pt>
              <c:pt idx="2">
                <c:v>7.22721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A"/>
              </a:solidFill>
              <a:prstDash val="solid"/>
            </a:ln>
          </c:spPr>
        </c:majorGridlines>
        <c:numFmt formatCode="$0&quot;k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Average row variance</c:v>
          </c:tx>
          <c:spPr>
            <a:solidFill xmlns:a="http://schemas.openxmlformats.org/drawingml/2006/main">
              <a:srgbClr val="0F766E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0F766E"/>
              </a:solidFill>
            </c:spPr>
          </c:dPt>
          <c:dPt>
            <c:idx val="1"/>
            <c:spPr>
              <a:solidFill xmlns:a="http://schemas.openxmlformats.org/drawingml/2006/main">
                <a:srgbClr val="0F766E"/>
              </a:solidFill>
            </c:spPr>
          </c:dPt>
          <c:dPt>
            <c:idx val="2"/>
            <c:spPr>
              <a:solidFill xmlns:a="http://schemas.openxmlformats.org/drawingml/2006/main">
                <a:srgbClr val="0F766E"/>
              </a:solidFill>
            </c:spPr>
          </c:dPt>
          <c:dPt>
            <c:idx val="3"/>
            <c:spPr>
              <a:solidFill xmlns:a="http://schemas.openxmlformats.org/drawingml/2006/main">
                <a:srgbClr val="173F68"/>
              </a:solidFill>
            </c:spPr>
          </c:dPt>
          <c:dPt>
            <c:idx val="4"/>
            <c:spPr>
              <a:solidFill xmlns:a="http://schemas.openxmlformats.org/drawingml/2006/main">
                <a:srgbClr val="173F68"/>
              </a:solidFill>
            </c:spPr>
          </c:dPt>
          <c:cat>
            <c:strLit>
              <c:ptCount val="5"/>
              <c:pt idx="0">
                <c:v>3-Quote</c:v>
              </c:pt>
              <c:pt idx="1">
                <c:v>Direct Award</c:v>
              </c:pt>
              <c:pt idx="2">
                <c:v>Emergency</c:v>
              </c:pt>
              <c:pt idx="3">
                <c:v>Open Tender</c:v>
              </c:pt>
              <c:pt idx="4">
                <c:v>Standing Offer</c:v>
              </c:pt>
            </c:strLit>
          </c:cat>
          <c:val>
            <c:numLit>
              <c:formatCode>0.00" pp"</c:formatCode>
              <c:ptCount val="5"/>
              <c:pt idx="0">
                <c:v>-2.3525</c:v>
              </c:pt>
              <c:pt idx="1">
                <c:v>-2.521839</c:v>
              </c:pt>
              <c:pt idx="2">
                <c:v>-2.092105</c:v>
              </c:pt>
              <c:pt idx="3">
                <c:v>-3.435526</c:v>
              </c:pt>
              <c:pt idx="4">
                <c:v>-3.406173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"/>
          <c:min val="-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A"/>
              </a:solidFill>
              <a:prstDash val="solid"/>
            </a:ln>
          </c:spPr>
        </c:majorGridlines>
        <c:numFmt formatCode="0.0&quot; pp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On-time rate</c:v>
          </c:tx>
          <c:spPr>
            <a:solidFill xmlns:a="http://schemas.openxmlformats.org/drawingml/2006/main">
              <a:srgbClr val="0F766E"/>
            </a:solidFill>
          </c:spPr>
          <c:dPt>
            <c:idx val="0"/>
            <c:spPr>
              <a:solidFill xmlns:a="http://schemas.openxmlformats.org/drawingml/2006/main">
                <a:srgbClr val="0F766E"/>
              </a:solidFill>
            </c:spPr>
          </c:dPt>
          <c:dPt>
            <c:idx val="1"/>
            <c:spPr>
              <a:solidFill xmlns:a="http://schemas.openxmlformats.org/drawingml/2006/main">
                <a:srgbClr val="0F766E"/>
              </a:solidFill>
            </c:spPr>
          </c:dPt>
          <c:dPt>
            <c:idx val="2"/>
            <c:spPr>
              <a:solidFill xmlns:a="http://schemas.openxmlformats.org/drawingml/2006/main">
                <a:srgbClr val="0F766E"/>
              </a:solidFill>
            </c:spPr>
          </c:dPt>
          <c:dPt>
            <c:idx val="3"/>
            <c:spPr>
              <a:solidFill xmlns:a="http://schemas.openxmlformats.org/drawingml/2006/main">
                <a:srgbClr val="0F766E"/>
              </a:solidFill>
            </c:spPr>
          </c:dPt>
          <c:dPt>
            <c:idx val="4"/>
            <c:spPr>
              <a:solidFill xmlns:a="http://schemas.openxmlformats.org/drawingml/2006/main">
                <a:srgbClr val="B77A1D"/>
              </a:solidFill>
            </c:spPr>
          </c:dPt>
          <c:dPt>
            <c:idx val="5"/>
            <c:spPr>
              <a:solidFill xmlns:a="http://schemas.openxmlformats.org/drawingml/2006/main">
                <a:srgbClr val="B77A1D"/>
              </a:solidFill>
            </c:spPr>
          </c:dPt>
          <c:cat>
            <c:strLit>
              <c:ptCount val="6"/>
              <c:pt idx="0">
                <c:v>Safety &amp; Temp</c:v>
              </c:pt>
              <c:pt idx="1">
                <c:v>Civil Works</c:v>
              </c:pt>
              <c:pt idx="2">
                <c:v>MEP Electrical</c:v>
              </c:pt>
              <c:pt idx="3">
                <c:v>MEP Mechanical</c:v>
              </c:pt>
              <c:pt idx="4">
                <c:v>Concrete &amp; Struct.</c:v>
              </c:pt>
              <c:pt idx="5">
                <c:v>Finishing</c:v>
              </c:pt>
            </c:strLit>
          </c:cat>
          <c:val>
            <c:numLit>
              <c:formatCode>0.0"%"</c:formatCode>
              <c:ptCount val="6"/>
              <c:pt idx="0">
                <c:v>82.85709999999999</c:v>
              </c:pt>
              <c:pt idx="1">
                <c:v>80</c:v>
              </c:pt>
              <c:pt idx="2">
                <c:v>75.7576</c:v>
              </c:pt>
              <c:pt idx="3">
                <c:v>75</c:v>
              </c:pt>
              <c:pt idx="4">
                <c:v>67.7419</c:v>
              </c:pt>
              <c:pt idx="5">
                <c:v>64.2857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5045BE-EA96-40C5-A546-5E8CD648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7510E-83BE-44E2-AB6D-3143F537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381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CONSTRUCTEDGE CONSTRUCTION &amp;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B2EB-C75A-453E-91BF-FC257286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5725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2025 Procurement
Performance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2F1AB-4783-4C08-86D6-3D753C5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7524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Where portfolio savings hide concentrated project, supplier, and delivery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27981-4136-4098-A262-3B30D3E4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533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analysis release · 23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2C5F9-EEEA-4BAE-9D50-FD7690AA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674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Prepared by Neil Gasson</a:t>
            </a:r>
          </a:p>
        </p:txBody>
      </p:sp>
    </p:spTree>
    <p:extLst>
      <p:ext uri="{BB962C8B-B14F-4D97-AF65-F5344CB8AC3E}">
        <p14:creationId xmlns:p14="http://schemas.microsoft.com/office/powerpoint/2010/main" val="1930598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B23DDB-19ED-4697-97D6-D1E8463E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F33DF-FA58-4042-A2FC-329C39C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804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The portfolio average is healthy—but it masks three decision-critical pockets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03790-8F5A-4075-945A-C17ED426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2596C-C12D-4EE2-9F42-05A62BB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E845B-4FDC-44E4-94D7-6BC62625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CF31D-6D27-4992-A647-D2CDF308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14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Portfolio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4338C-6612-4D94-82F5-A9FF1310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−$13.41M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618E5-D654-4937-9A87-79D0261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4953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Net under budget across 400 validated transactions. The result is real—but it is not evenly distributed.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3DEC5-8345-4450-A877-C77969DB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3AD91-DEAD-47FE-A635-F24C7DD5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Where leaders should look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F66E6-BDC0-460B-AC21-AB73880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625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01  Three projects are net over budget
02  Three suppliers repeatedly price above budget
03  Delivery reliability falls to 64.29% in Finishing</a:t>
            </a:r>
          </a:p>
        </p:txBody>
      </p:sp>
    </p:spTree>
    <p:extLst>
      <p:ext uri="{BB962C8B-B14F-4D97-AF65-F5344CB8AC3E}">
        <p14:creationId xmlns:p14="http://schemas.microsoft.com/office/powerpoint/2010/main" val="1976209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2479E-7D55-4557-B2EB-637C66FB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DATA &amp; TOOL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C8C9-2F01-442E-84E4-8CD8D34D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609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The evidence passed every acceptance test before analysis began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C344D-C389-4537-9ABB-EF58BA3B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5D155-1CC8-4A0B-B4C2-D94B530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C6C50-6005-45D5-A623-6F7A17E1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F5370-0038-499F-93FB-019F3516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0858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The official dataset contains 400 distinct transactions. Instructor-approved corrections are logged at cell level; financial identities, dates, counts, totals, and Q1–Q4 were independently verified.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A6EC4-6646-4BE0-A3E4-802BFEFB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5814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FA356-8D2C-47F0-856C-C3F9166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48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400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DE77D-8699-424C-BC6D-2F6883A9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transactions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6AED7-C099-45BD-BCFD-A2E1CAD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5814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EAF5E-AD3A-4224-BCE5-038DDF21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048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31 / 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21BDE-ED1F-4E13-A420-D658716F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acceptance tests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22D33-B2AE-43F2-9F80-48475E1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28950"/>
            <a:ext cx="35814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solidFill>
              <a:srgbClr val="F6F8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79FAD-1A11-486E-88E8-E19A851E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3048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83 / 83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35554-A5B7-4E3A-81C3-12693290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Q1–Q4 matches</a:t>
            </a:r>
          </a:p>
        </p:txBody>
      </p:sp>
    </p:spTree>
    <p:extLst>
      <p:ext uri="{BB962C8B-B14F-4D97-AF65-F5344CB8AC3E}">
        <p14:creationId xmlns:p14="http://schemas.microsoft.com/office/powerpoint/2010/main" val="12967492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335E6-4A79-44C7-9099-ECAC71D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Q1 · COST OVERRUNS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08D9-5180-4D34-A39F-5FEFBB4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669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Only three projects are net over budget; all categories remain net under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FD219-2E77-4F25-81AA-E82E950D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90304-1EF2-4181-82A0-49FE910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BFE4C-7260-4E6F-82A9-FD3BDAF2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FBC52-59F1-4A15-9979-6A738EC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7627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27097-4BCC-43B8-89F3-9F1CCB02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3810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Ranked by summed Cost Variance (CAD). Red = over budget; teal = under budget. Bar length shows absolute size.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05BA0-6B41-400C-B0E0-B3BCAD2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95600"/>
            <a:ext cx="3429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C94E4E"/>
                </a:solidFill>
                <a:latin typeface="Helvetica Neue"/>
                <a:ea typeface="Helvetica Neue"/>
                <a:cs typeface="Helvetica Neue"/>
              </a:defRPr>
            </a:pPr>
            <a:r>
              <a:t>$279.7K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F5B76-14DA-4827-8382-B9EFC63E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48075"/>
            <a:ext cx="342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Quarry Park ranks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0DE05-1DD2-4124-8BA0-451ED88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48150"/>
            <a:ext cx="39052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Calgary SE Ring Road: +$134.6K
Deerfoot Trail North: +$29.1K
Finishing is the closest category to zero at −$60.0K.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8650" y="1885950"/>
          <a:ext xmlns:a="http://schemas.openxmlformats.org/drawingml/2006/main" cx="628650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c4f8dea2ea4902"/>
          </a:graphicData>
        </a:graphic>
      </p:graphicFrame>
    </p:spTree>
    <p:extLst>
      <p:ext uri="{BB962C8B-B14F-4D97-AF65-F5344CB8AC3E}">
        <p14:creationId xmlns:p14="http://schemas.microsoft.com/office/powerpoint/2010/main" val="1604751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8D683-4C39-4CEB-B510-1EBF3B53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Q2 · SUPPLIER CONSISTENCY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04FC1-03E2-4FF9-BC85-6A810CC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Three suppliers show repeatable above-budget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B7933-E299-420E-A018-624C51C1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F965F-2A28-4D29-9B1A-127CE842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4480D-2818-44DB-8686-5BABC77D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F8144-9073-4DC9-BB71-94BA6FE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7627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9C83C-840F-47DD-A297-95580EA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38481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Consistently = more than 50% of orders over budget and positive total supplier variance.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3DB0E-DEEA-46DB-BB9C-384500CA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C94E4E"/>
                </a:solidFill>
                <a:latin typeface="Helvetica Neue"/>
                <a:ea typeface="Helvetica Neue"/>
                <a:cs typeface="Helvetica Neue"/>
              </a:defRPr>
            </a:pPr>
            <a:r>
              <a:t>$2.02M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79BD2-9DCB-41A1-A862-16CBF99B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909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combined net positive variance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61FE1-DBCE-46F1-AC72-9054F858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619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Houle: 63.64% above budget
PCL Mechanical: 53.33%
Levitt-Safety: 61.54%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60960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8a90ee943749e5"/>
          </a:graphicData>
        </a:graphic>
      </p:graphicFrame>
    </p:spTree>
    <p:extLst>
      <p:ext uri="{BB962C8B-B14F-4D97-AF65-F5344CB8AC3E}">
        <p14:creationId xmlns:p14="http://schemas.microsoft.com/office/powerpoint/2010/main" val="1230949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9138DF-9ECA-4CDC-A896-785E49D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Q3 · PROCUREMENT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274F-3372-444B-B532-F5DCD9BC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Procurement method explains virtually none of the variance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9EBF5-B017-499A-8B0A-1EC280C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6B6F4-2D3F-439A-8CCF-FFB6BC9A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5DDB7-0E2F-4489-9CB5-235314C0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34AAE-5032-41D2-8A69-6B96482B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7627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21C3F-3E81-459E-A973-0E9FE9BD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3905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All five observed methods are under budget on average. Their distributions overlap heavily.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F269E-D7B5-4831-9603-09F860DA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3429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p = 0.894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46D31-9109-4A03-8789-8EB64AD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ANOVA on row Variance_%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60D37-B604-485D-9E86-88400574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5770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η² = 0.0028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92C98-FA99-4EB2-B894-D4AFAEB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048250"/>
            <a:ext cx="3714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≈0.28% of differences explained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60960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63249c565c43d8"/>
          </a:graphicData>
        </a:graphic>
      </p:graphicFrame>
    </p:spTree>
    <p:extLst>
      <p:ext uri="{BB962C8B-B14F-4D97-AF65-F5344CB8AC3E}">
        <p14:creationId xmlns:p14="http://schemas.microsoft.com/office/powerpoint/2010/main" val="1393992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D90D2-D310-45DD-A519-0D082FE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Q4 · DELIVERED ORDERS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159E2-E3B2-4EDB-B7FF-1D44D58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Delivery reliability lags in Finishing and selected suppliers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A695A-1F7B-4FF4-A518-76805BC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FB5C5-4569-47E6-80EA-5E3146EB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9B608-BAFA-4DA5-8F55-4129B45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23913-7742-468D-B454-7E6E7D85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7627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B2F6D-2180-4CAE-A75B-3C8AB09D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90700"/>
            <a:ext cx="3905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151 of 204 Delivered orders arrived on time. Pending, Cancelled, and Partially Delivered orders are excluded.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32571-9C25-4FED-BEAC-E9EFE992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6705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74.02%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B279C-4C1E-4E48-9605-85DB4A28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9095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portfolio on-time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40CC1-7FDB-4B87-AAE7-15F6F1A5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14850"/>
            <a:ext cx="3810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Best category: Safety &amp; Temp Works, 82.86%
Worst category: Finishing, 64.29%
Worst supplier: Tremco, 42.86%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6096000" cy="3371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e36323dcbb4e66"/>
          </a:graphicData>
        </a:graphic>
      </p:graphicFrame>
    </p:spTree>
    <p:extLst>
      <p:ext uri="{BB962C8B-B14F-4D97-AF65-F5344CB8AC3E}">
        <p14:creationId xmlns:p14="http://schemas.microsoft.com/office/powerpoint/2010/main" val="6196202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1F57F3-8B94-4CBE-B32F-5D34328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TOP 3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58526-346E-40C2-84D7-23CD4E52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Focus action where the same risk repeats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88379-E293-41C6-9529-4949F92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9F86-A0D1-4118-A671-20C4998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17DDD-1951-4698-87C2-9F170870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5E43B-802A-438D-8E28-2DEA3F73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104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84FA2-809D-484B-BD6D-A35C1A7C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562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86F8A-255D-4E90-B3A1-12498C96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3352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Launch targeted commercial reviews with the suppliers that meet the consistently-above-budget rule.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C5829-03D9-430C-B0AF-5AB02213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352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3 suppliers qualify: Houle Electric, PCL Mechanical, Levitt-Safety Calgary. Their combined net positive variance is $2,022,856.51.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43C3B-3AFA-4151-9B0E-D4C69EA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3352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$1.01M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D8CD7-7EDA-495C-8461-DCDA181D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47850"/>
            <a:ext cx="104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988B3-7AB9-463E-910E-7F47A662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86050"/>
            <a:ext cx="3562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77CCC-FB6E-42C8-9BDD-C66ADE9D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81325"/>
            <a:ext cx="3352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01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Add pre-award variance thresholds and monthly exception reviews for the three projects with positive net cost variance.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B76D0-AD3E-48EE-9BD1-8A2B1F33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67200"/>
            <a:ext cx="3352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3 projects are net over budget: Quarry Park Mixed-Use Development, Calgary SE Ring Road Extension, Deerfoot Trail Widening - North. Combined net overrun is $443,408.60.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74963-31DA-4CA2-A4E8-65167F1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86400"/>
            <a:ext cx="3352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$221.7K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867A9-F3B0-4B2A-ADDA-B83B31B7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104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B9D03-4167-4408-9EE3-81C9E6F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3562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1D"/>
          </a:solidFill>
          <a:ln xmlns:a="http://schemas.openxmlformats.org/drawingml/2006/main" w="0">
            <a:solidFill>
              <a:srgbClr val="B77A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041F36-7995-4374-BA42-993C0D3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81325"/>
            <a:ext cx="3352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Create supplier delivery scorecards and corrective-action plans for material categories and suppliers below the Delivered-only portfolio benchmark.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0BFC08-FFE2-490A-8D21-52B51E67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33528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The Delivered-only on-time rate is 74.02%. 2 material categories are below that benchmark.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E92B2F-E0EC-4969-BD3F-80E8E2AC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3352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≈7 more on-time deliveries</a:t>
            </a:r>
          </a:p>
        </p:txBody>
      </p:sp>
    </p:spTree>
    <p:extLst>
      <p:ext uri="{BB962C8B-B14F-4D97-AF65-F5344CB8AC3E}">
        <p14:creationId xmlns:p14="http://schemas.microsoft.com/office/powerpoint/2010/main" val="29091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EF431-F963-4604-A0C6-558A65DA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"/>
            <a:ext cx="571500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LIMITATIONS &amp;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92F33-78DC-4601-B246-922B1EB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findings decisively—with four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DB6E9-C328-4855-99AF-CD379B0D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EC74C-C78F-478C-AD73-FEFBD863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2025 procurement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A75C9-6A06-43E4-9FCC-151DB0FF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56236-B9A6-4429-8BB7-50EECFA1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 data does not 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14581-E4CC-40E6-8981-513C749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5143500" cy="2952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• The analysis covers 2025 only
• Method comparisons are observational, not causal
• Imputed lead times affect two Civil Works records
• Recommendation impacts are directional, overlapping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564F6-C12B-4EA2-9797-61705536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190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83153-B49D-4522-BF90-222ADBC2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What to do in the next 90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0DADD-42D2-4E37-A60F-A3B2F27A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4762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0–30 days
Launch supplier reviews and assign project thresholds
31–60 days
Publish delivery scorecards by supplier and category
61–90 days
Review exceptions, measure movement, and reset targets</a:t>
            </a:r>
          </a:p>
        </p:txBody>
      </p:sp>
    </p:spTree>
    <p:extLst>
      <p:ext uri="{BB962C8B-B14F-4D97-AF65-F5344CB8AC3E}">
        <p14:creationId xmlns:p14="http://schemas.microsoft.com/office/powerpoint/2010/main" val="1218002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86FAA-272D-473A-AE56-02DC1C4A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BA91B-5832-49B4-8960-2BE15891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0A43F-BB3B-4222-BE39-968030E9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028700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B2746"/>
                </a:solidFill>
                <a:latin typeface="Helvetica Neue"/>
                <a:ea typeface="Helvetica Neue"/>
                <a:cs typeface="Helvetica Neue"/>
              </a:defRPr>
            </a:pPr>
            <a:r>
              <a:t>Act where risk repeats—not where the portfolio average looks comfortable.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911F4-99F9-4204-90E1-A0C9DBA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8572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B77"/>
                </a:solidFill>
                <a:latin typeface="Helvetica Neue"/>
                <a:ea typeface="Helvetica Neue"/>
                <a:cs typeface="Helvetica Neue"/>
              </a:defRPr>
            </a:pPr>
            <a:r>
              <a:t>Target three suppliers · Protect three projects · Raise delivery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526F9-F58D-48B4-8C30-A014968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release · 31/31 acceptance tests passed</a:t>
            </a:r>
          </a:p>
        </p:txBody>
      </p:sp>
    </p:spTree>
    <p:extLst>
      <p:ext uri="{BB962C8B-B14F-4D97-AF65-F5344CB8AC3E}">
        <p14:creationId xmlns:p14="http://schemas.microsoft.com/office/powerpoint/2010/main" val="136867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2026-07-23T22:03:13.8300000Z</dcterms:created>
  <dcterms:modified xsi:type="dcterms:W3CDTF">2026-07-23T22:03:13.8300000Z</dcterms:modified>
</coreProperties>
</file>